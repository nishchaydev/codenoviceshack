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389120"/>
          </a:xfrm>
          <a:prstGeom prst="roundRect">
            <a:avLst/>
          </a:prstGeom>
          <a:solidFill>
            <a:srgbClr val="161E31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38BDF8"/>
                </a:solidFill>
              </a:defRPr>
            </a:pPr>
            <a:r>
              <a:t>HACKWAVE 3.0  |  AUTONOMOUS FINANCIAL INTELLIGENCE</a:t>
            </a:r>
          </a:p>
          <a:p>
            <a:pPr>
              <a:spcAft>
                <a:spcPts val="800"/>
              </a:spcAft>
              <a:defRPr b="1" sz="4000">
                <a:solidFill>
                  <a:srgbClr val="F8FAFC"/>
                </a:solidFill>
              </a:defRPr>
            </a:pPr>
            <a:r>
              <a:t>FinGraph / FinDlilly AI</a:t>
            </a:r>
          </a:p>
          <a:p>
            <a:pPr>
              <a:spcAft>
                <a:spcPts val="1600"/>
              </a:spcAft>
              <a:defRPr b="1" sz="2000">
                <a:solidFill>
                  <a:srgbClr val="10B981"/>
                </a:solidFill>
              </a:defRPr>
            </a:pPr>
            <a:r>
              <a:t>Autonomous Financial Event &amp; Multi-Hop Market Impact Graph</a:t>
            </a:r>
          </a:p>
          <a:p>
            <a:pPr>
              <a:spcAft>
                <a:spcPts val="2400"/>
              </a:spcAft>
              <a:defRPr sz="1400">
                <a:solidFill>
                  <a:srgbClr val="94A3B8"/>
                </a:solidFill>
              </a:defRPr>
            </a:pPr>
            <a:r>
              <a:t>Tracing how unstructured global news &amp; geopolitical shocks propagate through sectors, supply chains, and equity portfolios using Knowledge Graphs, NLP, and Empirical Beta Sensitivity.</a:t>
            </a:r>
          </a:p>
          <a:p>
            <a:pPr>
              <a:defRPr b="1" sz="1300">
                <a:solidFill>
                  <a:srgbClr val="F59E0B"/>
                </a:solidFill>
              </a:defRPr>
            </a:pPr>
            <a:r>
              <a:t>Team Presentation &amp; Prototype Pitch  •  Live Demo Included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38BDF8"/>
                </a:solidFill>
                <a:latin typeface="Arial"/>
              </a:defRPr>
            </a:pPr>
            <a:r>
              <a:t>THE CORE DILEMMA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8FAFC"/>
                </a:solidFill>
                <a:latin typeface="Arial"/>
              </a:defRPr>
            </a:pPr>
            <a:r>
              <a:t>The Problem: Financial News is Isolated, Impact is Cascading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Why traditional news feeds and terminal alerts leave institutional investors and risk officers blind.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83280" cy="420624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b="1" sz="1600">
                <a:solidFill>
                  <a:srgbClr val="38BDF8"/>
                </a:solidFill>
                <a:latin typeface="Arial"/>
              </a:defRPr>
            </a:pPr>
            <a:r>
              <a:t>[SILO BUG] 1. Siloed Information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News feeds (Bloomberg, Reuters, Google News) present events as isolated, single headlines.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A 14% crude spike is shown only as an energy story, not an aviation or paint sector risk.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No explicit mapping of cross-sector relationships or second-order dependencies.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11680"/>
            <a:ext cx="3383280" cy="420624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b="1" sz="1600">
                <a:solidFill>
                  <a:srgbClr val="38BDF8"/>
                </a:solidFill>
                <a:latin typeface="Arial"/>
              </a:defRPr>
            </a:pPr>
            <a:r>
              <a:t>[CONTAGION] 2. The Multi-Hop Blindspot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Financial contagion doesn't stop at Direct Suppliers (Hop 1).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It cascades into packaging costs, interest rate expectations, and sovereign debt (Hop 2 &amp; 3).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Analysts take hours of manual reading to uncover hidden downstream credit exposures.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011680"/>
            <a:ext cx="3383280" cy="420624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b="1" sz="1600">
                <a:solidFill>
                  <a:srgbClr val="38BDF8"/>
                </a:solidFill>
                <a:latin typeface="Arial"/>
              </a:defRPr>
            </a:pPr>
            <a:r>
              <a:t>[AUDIT GAP] 3. Fact vs Prediction Confusion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Existing generative AI blindly hallucinates price predictions without statistical grounding.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Zero transparency on what is an observed factual shock versus an inferred mathematical impact.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Lack of verifiable evidence chains required for regulatory risk auditing.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38BDF8"/>
                </a:solidFill>
                <a:latin typeface="Arial"/>
              </a:defRPr>
            </a:pPr>
            <a:r>
              <a:t>THE BREAKTHROUGH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8FAFC"/>
                </a:solidFill>
                <a:latin typeface="Arial"/>
              </a:defRPr>
            </a:pPr>
            <a:r>
              <a:t>FinGraph AI: Dynamic Causal Dependency &amp; Impact Radar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An autonomous intelligence system transforming raw unstructured feeds into an interactive causal knowledge graph.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83280" cy="420624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b="1" sz="1600">
                <a:solidFill>
                  <a:srgbClr val="38BDF8"/>
                </a:solidFill>
                <a:latin typeface="Arial"/>
              </a:defRPr>
            </a:pPr>
            <a:r>
              <a:t>[INGESTION] 1. Autonomous NLP Ingestion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Extracts entities, catalysts, economic indicators, and commodity movements in real-time.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FinBERT + LLM event classification detects shock magnitude, sentiment polarity, and affected nodes.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Automated entity-resolution across tickers (e.g. Brent Crude -&gt; INDIGO -&gt; Asian Paints).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11680"/>
            <a:ext cx="3383280" cy="420624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b="1" sz="1600">
                <a:solidFill>
                  <a:srgbClr val="38BDF8"/>
                </a:solidFill>
                <a:latin typeface="Arial"/>
              </a:defRPr>
            </a:pPr>
            <a:r>
              <a:t>[GRAPH BRAIN] 2. Multi-Hop Graph Traversal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Constructs a living NetworkX / Neo4j DiGraph linking upstream commodities to downstream equities.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BFS / Dijkstra multi-hop traversal traces contagion velocity across supply vectors.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Assigns statistical confidence scores (e.g. 94% confidence) and transmission factors to each hop.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011680"/>
            <a:ext cx="3383280" cy="420624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b="1" sz="1600">
                <a:solidFill>
                  <a:srgbClr val="38BDF8"/>
                </a:solidFill>
                <a:latin typeface="Arial"/>
              </a:defRPr>
            </a:pPr>
            <a:r>
              <a:t>[EXPLAINABLE] 3. Empirical Grounding &amp; XAI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Couples graph topology with 90-day time-series returns regression (Beta sensitivity).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Generates human-readable explanations explaining WHY an airline or bank is hit.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One-click generation of Official Sector Impact Reports &amp; Legal Audit Dossiers.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38BDF8"/>
                </a:solidFill>
                <a:latin typeface="Arial"/>
              </a:defRPr>
            </a:pPr>
            <a:r>
              <a:t>ENGINEERING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8FAFC"/>
                </a:solidFill>
                <a:latin typeface="Arial"/>
              </a:defRPr>
            </a:pPr>
            <a:r>
              <a:t>End-to-End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A 4-tier pipeline connecting live news feeds to interactive 2D physics &amp; cascade visualization.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468880" cy="420624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b="1" sz="1600">
                <a:solidFill>
                  <a:srgbClr val="38BDF8"/>
                </a:solidFill>
                <a:latin typeface="Arial"/>
              </a:defRPr>
            </a:pPr>
            <a:r>
              <a:t>[STEP 1] Stage 1: Ingestion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Google News RSS / Terminal Wires / User Headline Input.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Asynchronous stream processing with Python.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Deduplication &amp; topic clustering.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Raw text parsing &amp; tokenization.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2011680"/>
            <a:ext cx="2468880" cy="420624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b="1" sz="1600">
                <a:solidFill>
                  <a:srgbClr val="38BDF8"/>
                </a:solidFill>
                <a:latin typeface="Arial"/>
              </a:defRPr>
            </a:pPr>
            <a:r>
              <a:t>[STEP 2] Stage 2: NLP &amp; Extraction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FinBERT Sentiment + LLM Entity Resolution.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Entity identification (Ticker, Sector, Commodity, Central Bank).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Relationship extraction: (AFFECTS, INCREASES, COSTS).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Confidence &amp; impact severity scoring.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2468880" cy="420624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b="1" sz="1600">
                <a:solidFill>
                  <a:srgbClr val="38BDF8"/>
                </a:solidFill>
                <a:latin typeface="Arial"/>
              </a:defRPr>
            </a:pPr>
            <a:r>
              <a:t>[STEP 3] Stage 3: Graph Engine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NetworkX Directed Graph (DiGraph) in FastAPI backend.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Multi-hop propagation scoring: Distance-decay * Transmission factor.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Time-series correlation (Historical regression beta).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Observed Fact vs Inferred Probability gating.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2011680"/>
            <a:ext cx="2468880" cy="420624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b="1" sz="1600">
                <a:solidFill>
                  <a:srgbClr val="38BDF8"/>
                </a:solidFill>
                <a:latin typeface="Arial"/>
              </a:defRPr>
            </a:pPr>
            <a:r>
              <a:t>[STEP 4] Stage 4: Visualization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React + Vite frontend with Tailwind &amp; Vis-Network.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Radial Transmission &amp; Flow Domino Cascade views.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Interactive Inspector with AI Confidence meters.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Audit Report &amp; Print Engine for export.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38BDF8"/>
                </a:solidFill>
                <a:latin typeface="Arial"/>
              </a:defRPr>
            </a:pPr>
            <a:r>
              <a:t>METHODOLOGY &amp; RIGOR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8FAFC"/>
                </a:solidFill>
                <a:latin typeface="Arial"/>
              </a:defRPr>
            </a:pPr>
            <a:r>
              <a:t>How Propagation is Scored: Distinguishing Facts from Inference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Combining graph structural path algorithms with empirical quantitative market sensitivity.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20624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b="1" sz="1600">
                <a:solidFill>
                  <a:srgbClr val="38BDF8"/>
                </a:solidFill>
                <a:latin typeface="Arial"/>
              </a:defRPr>
            </a:pPr>
            <a:r>
              <a:t>[ALGORITHM] Propagation Math &amp; Confidence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Transmission Factor (T): Calculated as T(Path) = Product of Edge Weights * Decay(Hop Distance).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Decay Factor: Hop 1 retains 85-95% transmission; Hop 2 retains 40-60%; Hop 3 attenuates to systemic background noise.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AI Confidence Metric: Blends FinBERT extraction certainty with historical co-movement frequency.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Fact vs Inference Separation: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  • Observed Facts (Green): Verified headline catalysts (e.g. Brent Crude spiked +14.2% today).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  • Inferred Exposure (Amber/Red): Downstream company margin contraction derived from supply models.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5212080" cy="420624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b="1" sz="1600">
                <a:solidFill>
                  <a:srgbClr val="38BDF8"/>
                </a:solidFill>
                <a:latin typeface="Arial"/>
              </a:defRPr>
            </a:pPr>
            <a:r>
              <a:t>[QUANT REGRESSION] Time-Series Beta Calibration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Empirical Market Grounding: We don't just guess numbers; we calibrate against 90-day daily return regressions.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Regression Beta (β): Delta(Asset) = Alpha + Beta * Delta(Commodity) + Epsilon.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Example Finding: InterGlobe Aviation (IndiGo) displays Beta = -0.82 against Crude Oil futures.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Stress Testing &amp; What-If Engine: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  • Users can input custom shocks (e.g. '+20% Crude Oil' or '-30% Semi Supply').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  • Engine instantly simulates downstream P&amp;L and market cap at risk ($14.5M portfolio exposure).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38BDF8"/>
                </a:solidFill>
                <a:latin typeface="Arial"/>
              </a:defRPr>
            </a:pPr>
            <a:r>
              <a:t>COMPETITIVE 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8FAFC"/>
                </a:solidFill>
                <a:latin typeface="Arial"/>
              </a:defRPr>
            </a:pPr>
            <a:r>
              <a:t>Key Innovations that Set FinGraph Apart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Built specifically to solve institutional risk hurdles, not just render basic nodes.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83280" cy="420624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b="1" sz="1600">
                <a:solidFill>
                  <a:srgbClr val="38BDF8"/>
                </a:solidFill>
                <a:latin typeface="Arial"/>
              </a:defRPr>
            </a:pPr>
            <a:r>
              <a:t>[COLLISION] 1. Causal Collision Explorer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Traditional tools look at one event in isolation.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FinGraph detects collisions: What happens when an Oil Spike COLLIDES with a Central Bank Rate Hike?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Multi-origin wave propagation highlights compounding stress points in real-time.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11680"/>
            <a:ext cx="3383280" cy="420624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b="1" sz="1600">
                <a:solidFill>
                  <a:srgbClr val="38BDF8"/>
                </a:solidFill>
                <a:latin typeface="Arial"/>
              </a:defRPr>
            </a:pPr>
            <a:r>
              <a:t>[DUAL UX] 2. Dual Graph Rendering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Switch effortlessly between 2 complementary visual paradigms: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  • 2D Physics Force Graph: Visualizes overall structural clustering and centrality.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  • Flow Domino Cascade: Linear Bézier multi-hop layout showing chronological shock transmission.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011680"/>
            <a:ext cx="3383280" cy="420624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b="1" sz="1600">
                <a:solidFill>
                  <a:srgbClr val="38BDF8"/>
                </a:solidFill>
                <a:latin typeface="Arial"/>
              </a:defRPr>
            </a:pPr>
            <a:r>
              <a:t>[COMPLIANCE] 3. Institutional Dossier Export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One-click generation of professional Sector Impact Reports &amp; Path Dossiers.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Includes entity vulnerability profiles, channel breakdown, and model confidence stamps.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Printable and shareable immediately for board and risk committee reviews.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38BDF8"/>
                </a:solidFill>
                <a:latin typeface="Arial"/>
              </a:defRPr>
            </a:pPr>
            <a:r>
              <a:t>HANDS-ON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8FAFC"/>
                </a:solidFill>
                <a:latin typeface="Arial"/>
              </a:defRPr>
            </a:pPr>
            <a:r>
              <a:t>Live Prototype Walkthrough: The Crude Oil Shock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Demonstrating end-to-end propagation from raw commodity event to specific portfolio assets.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83280" cy="420624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b="1" sz="1600">
                <a:solidFill>
                  <a:srgbClr val="38BDF8"/>
                </a:solidFill>
                <a:latin typeface="Arial"/>
              </a:defRPr>
            </a:pPr>
            <a:r>
              <a:t>[HOP 0: TRIGGER] Stage 0: Root Macro Shock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Trigger Event: Crude Oil Futures (CL=F) surge +14.2% due to Red Sea transit halt.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Status: Verified Observed Fact.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Systemic Exposure: $14,500,000 tracked portfolio exposure.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Categorization: Energy Commodity Shock.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11680"/>
            <a:ext cx="3383280" cy="420624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b="1" sz="1600">
                <a:solidFill>
                  <a:srgbClr val="38BDF8"/>
                </a:solidFill>
                <a:latin typeface="Arial"/>
              </a:defRPr>
            </a:pPr>
            <a:r>
              <a:t>[HOP 1: EQUITIES] Stage 1: Direct Exposed Assets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Aviation: InterGlobe (IndiGo) drop -11.8% (Fuel = 40% of OpEx, Beta: -0.82, Conf: 94%).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Airlines: SpiceJet drops -16.4% (Working capital &amp; lease covenant strain).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Chemicals: Asian Paints drops -8.5% (Petrochem solvent input pinch).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Financials: Banking Index drops -4.5% (Delayed rate cuts via CPI inflation).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011680"/>
            <a:ext cx="3383280" cy="420624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b="1" sz="1600">
                <a:solidFill>
                  <a:srgbClr val="38BDF8"/>
                </a:solidFill>
                <a:latin typeface="Arial"/>
              </a:defRPr>
            </a:pPr>
            <a:r>
              <a:t>[HOP 2: SECONDARY] Stage 2: Downstream Domino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IndiGo -&gt; ATF Jet Fuel Surcharge (-18.4%).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IndiGo -&gt; Domestic Airfare Hike (+12.0%).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IndiGo -&gt; Discretionary Tourism Spend (-4.8%).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Asian Paints -&gt; Dealer Channel Credit Lag (-5.2%).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Banking -&gt; 10-Yr Sovereign Yield Spike (+18 bps).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38BDF8"/>
                </a:solidFill>
                <a:latin typeface="Arial"/>
              </a:defRPr>
            </a:pPr>
            <a:r>
              <a:t>COMPLETE INTELLIGENCE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8FAFC"/>
                </a:solidFill>
                <a:latin typeface="Arial"/>
              </a:defRPr>
            </a:pPr>
            <a:r>
              <a:t>Full Platform Suite: Beyond Graph Visualization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A unified command center for portfolio managers, traders, and regulatory analysts.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83280" cy="420624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b="1" sz="1600">
                <a:solidFill>
                  <a:srgbClr val="38BDF8"/>
                </a:solidFill>
                <a:latin typeface="Arial"/>
              </a:defRPr>
            </a:pPr>
            <a:r>
              <a:t>[RISK RADAR] Systemic Risk Gauge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Dynamic macro volatility dial computing composite stress scores (0 to 100).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Integrates VIX, currency volatility, and supply chain fragility indices.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Visual warning thresholds for market-wide contagion alerts.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11680"/>
            <a:ext cx="3383280" cy="420624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b="1" sz="1600">
                <a:solidFill>
                  <a:srgbClr val="38BDF8"/>
                </a:solidFill>
                <a:latin typeface="Arial"/>
              </a:defRPr>
            </a:pPr>
            <a:r>
              <a:t>[NEWS WIRE] Live Terminal Wire Feed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Real-time integration with financial wires (Bloomberg, FT, Reuters, Google News).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Real-time journalist credibility scores and topic taggers.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Instant 'Simulate on Graph' button next to every breaking headline.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011680"/>
            <a:ext cx="3383280" cy="420624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b="1" sz="1600">
                <a:solidFill>
                  <a:srgbClr val="38BDF8"/>
                </a:solidFill>
                <a:latin typeface="Arial"/>
              </a:defRPr>
            </a:pPr>
            <a:r>
              <a:t>[XAI COCKPIT] Interactive Inspector &amp; XAI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Click any node or link to review plain-English causal logic.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Provides exact citations and mathematical betas justifying the connection.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Allows users to adjust node weights and re-simulate shock propagation.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38BDF8"/>
                </a:solidFill>
                <a:latin typeface="Arial"/>
              </a:defRPr>
            </a:pPr>
            <a:r>
              <a:t>MARKET FEASIBILITY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8FAFC"/>
                </a:solidFill>
                <a:latin typeface="Arial"/>
              </a:defRPr>
            </a:pPr>
            <a:r>
              <a:t>Target Market, User Personas &amp; Commercial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Transforming reactive post-mortem analysis into proactive pre-market positioning.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83280" cy="420624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b="1" sz="1600">
                <a:solidFill>
                  <a:srgbClr val="38BDF8"/>
                </a:solidFill>
                <a:latin typeface="Arial"/>
              </a:defRPr>
            </a:pPr>
            <a:r>
              <a:t>[BUY-SIDE] 1. Hedge Funds &amp; Asset Managers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Persona: Quantitative PMs and Equity Research Analysts.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Pain Point: Missing non-obvious 2nd-order sector reactions before market open.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FinGraph Value: Automated cross-asset hedging and alpha discovery across supply chain ripples.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11680"/>
            <a:ext cx="3383280" cy="420624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b="1" sz="1600">
                <a:solidFill>
                  <a:srgbClr val="38BDF8"/>
                </a:solidFill>
                <a:latin typeface="Arial"/>
              </a:defRPr>
            </a:pPr>
            <a:r>
              <a:t>[RISK / ENTERPRISE] 2. Chief Risk Officers (CROs)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Persona: Bank Risk Managers and Insurance Treasuries.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Pain Point: Hidden counterparty risk during geopolitical black swan events.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FinGraph Value: Instant portfolio stress-testing and one-click regulatory risk audit reports.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011680"/>
            <a:ext cx="3383280" cy="420624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b="1" sz="1600">
                <a:solidFill>
                  <a:srgbClr val="38BDF8"/>
                </a:solidFill>
                <a:latin typeface="Arial"/>
              </a:defRPr>
            </a:pPr>
            <a:r>
              <a:t>[REGULATORS] 3. Regulators &amp; Central Banks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Persona: RBI, SEBI, SEC systemic risk surveillance teams.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Pain Point: Detecting systemic failure points before contagion spreads to retail banking.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FinGraph Value: Dynamic market topology monitoring and liquidity freeze alerts.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38BDF8"/>
                </a:solidFill>
                <a:latin typeface="Arial"/>
              </a:defRPr>
            </a:pPr>
            <a:r>
              <a:t>THE VISION FORWARD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8FAFC"/>
                </a:solidFill>
                <a:latin typeface="Arial"/>
              </a:defRPr>
            </a:pPr>
            <a:r>
              <a:t>Future Roadmap &amp; Summary: The Autonomous Financial Brain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Taking FinGraph from a hackathon proof-of-concept to an enterprise-grade financial terminal.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83280" cy="420624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b="1" sz="1600">
                <a:solidFill>
                  <a:srgbClr val="38BDF8"/>
                </a:solidFill>
                <a:latin typeface="Arial"/>
              </a:defRPr>
            </a:pPr>
            <a:r>
              <a:t>[PHASE 1] Near-Term (Next 3 Months)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Full Neo4j production cluster with 50,000+ global supply chain nodes.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Automated SEC 10-K &amp; earnings call transcript causal parsing.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Real-time WebSocket streaming from Finnhub &amp; Alpha Vantage.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11680"/>
            <a:ext cx="3383280" cy="420624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b="1" sz="1600">
                <a:solidFill>
                  <a:srgbClr val="38BDF8"/>
                </a:solidFill>
                <a:latin typeface="Arial"/>
              </a:defRPr>
            </a:pPr>
            <a:r>
              <a:t>[PHASE 2] Mid-Term (Next 6-12 Months)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Automated Portfolio Rebalancing: Recommends trade hedges directly via broker APIs.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Multi-modal inputs: Satellite shipping AIS data + customs import/export filings.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Enterprise RBAC login &amp; multi-tenant portfolio segregation.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011680"/>
            <a:ext cx="3383280" cy="420624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b="1" sz="1600">
                <a:solidFill>
                  <a:srgbClr val="38BDF8"/>
                </a:solidFill>
                <a:latin typeface="Arial"/>
              </a:defRPr>
            </a:pPr>
            <a:r>
              <a:t>[READY FOR Q&amp;A] Summary &amp; Takeaway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FinGraph solves Hackwave 3.0 by bridging unstructured news and quantitative contagion.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Distinguishes observed facts from inferred probabilities.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Fully working, dynamic interactive demo ready right now.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Thank you! Ready for Questions &amp; Live Demonstration.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